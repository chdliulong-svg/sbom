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各位领导、同事大家好！今天由我来向大家分享我们在风电机组 Service BOM（服务运维备件清单）领域落地的大模型应用案例。</a:t>
            </a:r>
          </a:p>
          <a:p>
            <a:r>
              <a:t>重点汇报我们如何从日常实际痛点出发，利用云端大模型的自然语言理解能力与工程清洗规则，把原本混乱耗时的非标物料录入和清单编制工作，变成智能化、受控化的高效自动化平台。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在风电后市场运维中，Service BOM 是备件采购、仓储和现场更换的唯一依据。</a:t>
            </a:r>
          </a:p>
          <a:p>
            <a:r>
              <a:t>然而大家都有切身体会，过去有四个大痛点：第一，物料描述极其非标；第二，工程师不得不人工逐条复制粘贴拆分；第三，一物多码导致物料库冗余；第四，桌面 Excel 传阅导致工程版本覆盖、BOM 序号错乱。这些痛点正是我们引入 AI 改造的切入点。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这是系统的整体方案架构。我们没有盲目搞花架子，而是构建了端到端闭环：</a:t>
            </a:r>
          </a:p>
          <a:p>
            <a:r>
              <a:t>第一步多源输入接入；第二步直接调用成熟的云端大模型做秒级自然语言理解；第三步通过内置的风电备件规则库进行清洗去重；第四步受控输出符合 FDJL-JS-037 标准的正式 BOM。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在技术方案上，我们坚持‘轻量、实用、精准’的原则，采用‘云端大模型 + 工业规则’的协同架构：</a:t>
            </a:r>
          </a:p>
          <a:p>
            <a:r>
              <a:t>首先，我们直接调用成熟的云端大模型（如智谱 GLM-4-Flash），不到 1 秒就能完成解析，不仅能处理复杂的倒序语言，而且本地电脑零算力负担，不需要买昂贵的 GPU 显卡；</a:t>
            </a:r>
          </a:p>
          <a:p>
            <a:r>
              <a:t>其次，结合工业规则库对大模型输出进行后处理清洗，确保图号绝对纯净，并对知名品牌自动中文化；</a:t>
            </a:r>
          </a:p>
          <a:p>
            <a:r>
              <a:t>最后，整套系统基于轻量 Web 架构，科室同仁用浏览器就能访问，开箱即用，运维极其简单。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大家看屏幕上的这三个典型案例，这是实际系统中每天都在处理的数据。</a:t>
            </a:r>
          </a:p>
          <a:p>
            <a:r>
              <a:t>案例1中，工程师写了前缀‘变桨备件_’，大模型能理解这只是个分类，精准提取出真正的‘传感器撞块’；</a:t>
            </a:r>
          </a:p>
          <a:p>
            <a:r>
              <a:t>案例2中，图号在最前面，名称和型号颠倒，大模型依然精准复原；</a:t>
            </a:r>
          </a:p>
          <a:p>
            <a:r>
              <a:t>案例3更具价值，系统识别出‘Siemens’后，自动映射归一化为中文‘西门子’，这就从根源上杜绝了‘西门子’和‘Siemens’在数据库里变成两个不同物料的一物多码现象！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除了文本大模型，我们还解决了看图和物料照片这一大痛点。</a:t>
            </a:r>
          </a:p>
          <a:p>
            <a:r>
              <a:t>过去看一个备件三维图，必须打开几十个 G 的 Creo 或 NX，很多同事电脑带不动。现在我们把 3D 解析直接做到了网页上，支持上传 STEP 模型，用鼠标旋转到合适的视角，点击‘一键截屏’，这张图片就直接保存并关联到了物料主库中。导出的 BOM 带着物料实物图，让现场师傅领料再也不会拿错。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技术必须服务于实际的工程规范。在 Service BOM 输出环节，我们做到了 100% 的受控闭环：</a:t>
            </a:r>
          </a:p>
          <a:p>
            <a:r>
              <a:t>第一，封面严格套用公司 FDJL-JS-037 受控模板，项目代号、平台与文件名联动；</a:t>
            </a:r>
          </a:p>
          <a:p>
            <a:r>
              <a:t>第二，完整的六级签字与 ECN 变更追溯；</a:t>
            </a:r>
          </a:p>
          <a:p>
            <a:r>
              <a:t>第三，严格的 10/20/30 层级编号和黑点缩进；</a:t>
            </a:r>
          </a:p>
          <a:p>
            <a:r>
              <a:t>第四，独立工程锁机制，多同事协作互不冲突覆盖。保证了工程严谨性。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经过实际项目测试，效果是立竿见影的：</a:t>
            </a:r>
          </a:p>
          <a:p>
            <a:r>
              <a:t>第一，单条物料录入耗时从 2 分钟手工拆解缩短到不到 2 秒，效率提升超过 85%；</a:t>
            </a:r>
          </a:p>
          <a:p>
            <a:r>
              <a:t>第二，整套机组 Service BOM 编制周期从原本的 3 到 5 天缩短至半天即可交付；</a:t>
            </a:r>
          </a:p>
          <a:p>
            <a:r>
              <a:t>第三，物料字段规范率达到 98.5%，有效抑制了一物多码；</a:t>
            </a:r>
          </a:p>
          <a:p>
            <a:r>
              <a:t>第四，云端大模型响应不到 1 秒，普通工位电脑开箱即用，为科室带来了扎扎实实的效率提升。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在做这个系统的过程中，我们团队有三点非常深刻的体会：</a:t>
            </a:r>
          </a:p>
          <a:p>
            <a:r>
              <a:t>第一是‘小切口，深扎根’，切入点一定要是日常最烦人的脏活累活；</a:t>
            </a:r>
          </a:p>
          <a:p>
            <a:r>
              <a:t>第二是‘轻量实用’，善用成熟的云端 API，不要把精力耗在维护笨重复杂的本地显卡集群上；</a:t>
            </a:r>
          </a:p>
          <a:p>
            <a:r>
              <a:t>第三是‘AI与规则结合’，让大模型发挥理解长处，让规则系统守住工程底线，这样才能做出经得起推敲的生产力工具。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关于后续演进，我们有三步规划：</a:t>
            </a:r>
          </a:p>
          <a:p>
            <a:r>
              <a:t>第一，在科室领导支持下，把这套工具从变桨系统推广到偏航、主轴、电气等所有专业子系统；</a:t>
            </a:r>
          </a:p>
          <a:p>
            <a:r>
              <a:t>第二，打通与公司 PLM 和 ERP 系统，让研发端的设计变更直接联动到服务备件；</a:t>
            </a:r>
          </a:p>
          <a:p>
            <a:r>
              <a:t>第三，引入图纸 OCR 与多模态技术，直接扫描老旧图纸就能自动生成 BOM。希望大家积极体验并提出改进需求！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以上就是关于风电机组 Service BOM 大模型应用的案例分享，非常感谢各位领导和同事的耐心聆听！</a:t>
            </a:r>
          </a:p>
          <a:p>
            <a:r>
              <a:t>现在把时间留给大家，非常期待听取科室领导的指导意见，以及各位同事在日常工作中遇到的实际诉求，我们共同交流探讨，谢谢大家！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640080"/>
            <a:ext cx="10728655" cy="5577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20" y="1097280"/>
            <a:ext cx="3108960" cy="38404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BAE6FD"/>
                </a:solidFill>
                <a:latin typeface="微软雅黑"/>
              </a:defRPr>
            </a:pPr>
            <a:r>
              <a:t>⚡ 工业大模型场景化落地实践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9164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大模型赋能风电工程服务</a:t>
            </a:r>
          </a:p>
          <a:p>
            <a:pPr>
              <a:spcBef>
                <a:spcPts val="600"/>
              </a:spcBef>
              <a:defRPr sz="2800" b="1">
                <a:solidFill>
                  <a:srgbClr val="38BDF8"/>
                </a:solidFill>
                <a:latin typeface="微软雅黑"/>
              </a:defRPr>
            </a:pPr>
            <a:r>
              <a:t>Service BOM 智能解析与数据治理实践</a:t>
            </a:r>
          </a:p>
          <a:p>
            <a:pPr>
              <a:spcBef>
                <a:spcPts val="1600"/>
              </a:spcBef>
              <a:defRPr sz="1400">
                <a:solidFill>
                  <a:srgbClr val="94A3B8"/>
                </a:solidFill>
                <a:latin typeface="微软雅黑"/>
              </a:defRPr>
            </a:pPr>
            <a:r>
              <a:t>从“非标手工拆解”迈向“云端大模型语义理解 + 工业规则约束”的高效敏捷闭环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4114800"/>
            <a:ext cx="3017520" cy="1051560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🎯 语义精准拆解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微软雅黑"/>
              </a:defRPr>
            </a:pPr>
            <a:r>
              <a:t>突破词序倒置，纯净剥离图号与规范厂商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4114800"/>
            <a:ext cx="3017520" cy="1051560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⚡ 秒级云端推断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微软雅黑"/>
              </a:defRPr>
            </a:pPr>
            <a:r>
              <a:t>智谱 GLM 企业级接口，零本地算力开销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4114800"/>
            <a:ext cx="3017520" cy="1051560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📊 受控标准交付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微软雅黑"/>
              </a:defRPr>
            </a:pPr>
            <a:r>
              <a:t>严格契合 FDJL-JS-037 受控表单规范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3949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微软雅黑"/>
              </a:defRPr>
            </a:pPr>
            <a:r>
              <a:t>上海电气风电集团 · 服务工程团队 | 汇报范围：科室技术与智能化应用分享 | 2026年10月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20116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D4ED8"/>
                </a:solidFill>
                <a:latin typeface="微软雅黑"/>
              </a:defRPr>
            </a:pPr>
            <a:r>
              <a:t>01. 业务痛点分析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微软雅黑"/>
              </a:defRPr>
            </a:pPr>
            <a:r>
              <a:t>传统 Service BOM 编制面临的四大“核心堵点”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微软雅黑"/>
              </a:defRPr>
            </a:pPr>
            <a:r>
              <a:t>海量备件描述非标、人工机械拆解费时费力、一物多码与离线协同失控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85232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109728" cy="210312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" y="1892808"/>
            <a:ext cx="1280160" cy="256032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43F5E"/>
                </a:solidFill>
                <a:latin typeface="微软雅黑"/>
              </a:defRPr>
            </a:pPr>
            <a:r>
              <a:t>堵点 01 · 格式失控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94560"/>
            <a:ext cx="4709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微软雅黑"/>
              </a:defRPr>
            </a:pPr>
            <a:r>
              <a:t>描述非标且词序混乱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  <a:latin typeface="微软雅黑"/>
              </a:defRPr>
            </a:pPr>
            <a:r>
              <a:t>现场运维人员录入习惯随意，下划线、空格混杂拼接；名称、规格、厂商词序混乱颠倒（如“变桨备件_传感器撞块_DBJ..._电力电子”），传统正则匹配频频失效。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91640"/>
            <a:ext cx="5285232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1691640"/>
            <a:ext cx="109728" cy="21031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1892808"/>
            <a:ext cx="1280160" cy="25603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59E0B"/>
                </a:solidFill>
                <a:latin typeface="微软雅黑"/>
              </a:defRPr>
            </a:pPr>
            <a:r>
              <a:t>堵点 02 · 效率瓶颈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94560"/>
            <a:ext cx="4709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微软雅黑"/>
              </a:defRPr>
            </a:pPr>
            <a:r>
              <a:t>人工拆分耗时且易错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  <a:latin typeface="微软雅黑"/>
              </a:defRPr>
            </a:pPr>
            <a:r>
              <a:t>工程师不得不逐条人工剪切拆分【名称、规格型号、制造商】；单台机组数百项备件如同枯燥体力劳动，连续录入易疲劳漏填，编制一套 BOM 需耗费数天。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77639"/>
            <a:ext cx="5285232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977639"/>
            <a:ext cx="109728" cy="210312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5840" y="4178807"/>
            <a:ext cx="1280160" cy="256032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43F5E"/>
                </a:solidFill>
                <a:latin typeface="微软雅黑"/>
              </a:defRPr>
            </a:pPr>
            <a:r>
              <a:t>堵点 03 · 资产沉淀难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480559"/>
            <a:ext cx="4709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微软雅黑"/>
              </a:defRPr>
            </a:pPr>
            <a:r>
              <a:t>“一物多码”污染主库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  <a:latin typeface="微软雅黑"/>
              </a:defRPr>
            </a:pPr>
            <a:r>
              <a:t>同一元器件因书写差异（如英文 Siemens 与中文西门子）被多次重复新建，备件主库膨胀数万条无序记录，直接导致采购无法集采议价、库存盲目积压。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977639"/>
            <a:ext cx="5285232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72200" y="3977639"/>
            <a:ext cx="109728" cy="21031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46520" y="4178807"/>
            <a:ext cx="1280160" cy="25603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59E0B"/>
                </a:solidFill>
                <a:latin typeface="微软雅黑"/>
              </a:defRPr>
            </a:pPr>
            <a:r>
              <a:t>堵点 04 · 协同风险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480559"/>
            <a:ext cx="4709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微软雅黑"/>
              </a:defRPr>
            </a:pPr>
            <a:r>
              <a:t>离线流转与版本失控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  <a:latin typeface="微软雅黑"/>
              </a:defRPr>
            </a:pPr>
            <a:r>
              <a:t>传统模式依赖本地 Excel 拷贝传阅，多机型交叉修改导致覆盖风险；BOM 树状层级序号经常断裂错乱，缺乏严格的工程锁与受控签字追溯机制。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20116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D4ED8"/>
                </a:solidFill>
                <a:latin typeface="微软雅黑"/>
              </a:defRPr>
            </a:pPr>
            <a:r>
              <a:t>02. 总体解决方案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微软雅黑"/>
              </a:defRPr>
            </a:pPr>
            <a:r>
              <a:t>“AI 智能推断 + 主库治理 + 工程受控”端到端全链路闭环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微软雅黑"/>
              </a:defRPr>
            </a:pPr>
            <a:r>
              <a:t>从源头杂乱输入到受控标准 Excel 交付，实现物料数据全生命周期的自动化与标准化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560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828800"/>
            <a:ext cx="2286000" cy="77724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E0F2FE"/>
                </a:solidFill>
                <a:latin typeface="Segoe UI"/>
              </a:defRPr>
            </a:pPr>
            <a:r>
              <a:t>STEP 01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多源数据接入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97480"/>
            <a:ext cx="2286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  <a:latin typeface="微软雅黑"/>
              </a:defRPr>
            </a:pPr>
            <a:r>
              <a:t>✔ 非标单行/批量文本直接粘贴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  <a:latin typeface="微软雅黑"/>
              </a:defRPr>
            </a:pPr>
            <a:r>
              <a:t>✔ 历史多版本 Excel 一键导入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  <a:latin typeface="微软雅黑"/>
              </a:defRPr>
            </a:pPr>
            <a:r>
              <a:t>✔ STEP 3D CAD 三维模型接入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  <a:latin typeface="微软雅黑"/>
              </a:defRPr>
            </a:pPr>
            <a:r>
              <a:t>✔ PDF 技术协议与手册关联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310128" y="3749039"/>
            <a:ext cx="137160" cy="22860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29000" y="1691640"/>
            <a:ext cx="2560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66160" y="1828800"/>
            <a:ext cx="2286000" cy="7772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E0F2FE"/>
                </a:solidFill>
                <a:latin typeface="Segoe UI"/>
              </a:defRPr>
            </a:pPr>
            <a:r>
              <a:t>STEP 02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云端大模型引擎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697480"/>
            <a:ext cx="2286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  <a:latin typeface="微软雅黑"/>
              </a:defRPr>
            </a:pPr>
            <a:r>
              <a:t>✔ 智谱 GLM 企业级云端 API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  <a:latin typeface="微软雅黑"/>
              </a:defRPr>
            </a:pPr>
            <a:r>
              <a:t>✔ 实测 ~0.9s 极速并发响应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  <a:latin typeface="微软雅黑"/>
              </a:defRPr>
            </a:pPr>
            <a:r>
              <a:t>✔ 智能理解词序颠倒与长句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  <a:latin typeface="微软雅黑"/>
              </a:defRPr>
            </a:pPr>
            <a:r>
              <a:t>✔ 精准剥离名称、纯型号与厂商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007608" y="3749039"/>
            <a:ext cx="137160" cy="22860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0" y="1691640"/>
            <a:ext cx="2560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1828800"/>
            <a:ext cx="2286000" cy="7772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E0F2FE"/>
                </a:solidFill>
                <a:latin typeface="Segoe UI"/>
              </a:defRPr>
            </a:pPr>
            <a:r>
              <a:t>STEP 03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工程清洗与治理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697480"/>
            <a:ext cx="2286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  <a:latin typeface="微软雅黑"/>
              </a:defRPr>
            </a:pPr>
            <a:r>
              <a:t>✔ 知名备件供应商知识库映射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  <a:latin typeface="微软雅黑"/>
              </a:defRPr>
            </a:pPr>
            <a:r>
              <a:t>✔ 自动滤除“备件_”等前缀噪声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  <a:latin typeface="微软雅黑"/>
              </a:defRPr>
            </a:pPr>
            <a:r>
              <a:t>✔ 全局主库查重，抑制一物多码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  <a:latin typeface="微软雅黑"/>
              </a:defRPr>
            </a:pPr>
            <a:r>
              <a:t>✔ 树状层级序号 (Step 10) 构建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705088" y="3749039"/>
            <a:ext cx="137160" cy="22860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691640"/>
            <a:ext cx="2560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61120" y="1828800"/>
            <a:ext cx="2286000" cy="7772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E0F2FE"/>
                </a:solidFill>
                <a:latin typeface="Segoe UI"/>
              </a:defRPr>
            </a:pPr>
            <a:r>
              <a:t>STEP 04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受控工程交付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697480"/>
            <a:ext cx="2286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  <a:latin typeface="微软雅黑"/>
              </a:defRPr>
            </a:pPr>
            <a:r>
              <a:t>✔ 符合 FDJL-JS-037 规范 Excel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  <a:latin typeface="微软雅黑"/>
              </a:defRPr>
            </a:pPr>
            <a:r>
              <a:t>✔ 六级签字与 ECN 变更追溯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  <a:latin typeface="微软雅黑"/>
              </a:defRPr>
            </a:pPr>
            <a:r>
              <a:t>✔ 细粒度工程锁保障协同安全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  <a:latin typeface="微软雅黑"/>
              </a:defRPr>
            </a:pPr>
            <a:r>
              <a:t>✔ 离线单文件工程包完整导出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20116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D4ED8"/>
                </a:solidFill>
                <a:latin typeface="微软雅黑"/>
              </a:defRPr>
            </a:pPr>
            <a:r>
              <a:t>03. 核心技术方案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微软雅黑"/>
              </a:defRPr>
            </a:pPr>
            <a:r>
              <a:t>“云端大模型 + 工业规则”协同驱动：敏捷、精准、轻量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微软雅黑"/>
              </a:defRPr>
            </a:pPr>
            <a:r>
              <a:t>大模型负责复杂模糊语义的自然语言理解，工程规则负责格式边界约束与后处理校验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5780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874519"/>
            <a:ext cx="4892040" cy="59436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🧠 云端大模型引擎 · 自然语言理解中枢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4892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  <a:latin typeface="微软雅黑"/>
              </a:defRPr>
            </a:pPr>
            <a:r>
              <a:t>• 【成熟主流接口】接入智谱 GLM-4-Flash 等高性价比企业级大模型 API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  <a:latin typeface="微软雅黑"/>
              </a:defRPr>
            </a:pPr>
            <a:r>
              <a:t>• 【秒级极速推断】实测单次请求响应平均仅 0.93 秒，连续录入毫无卡顿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  <a:latin typeface="微软雅黑"/>
              </a:defRPr>
            </a:pPr>
            <a:r>
              <a:t>• 【强大泛化能力】无论词序如何倒置、夹带特殊符号，均能准确还原真实语义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  <a:latin typeface="微软雅黑"/>
              </a:defRPr>
            </a:pPr>
            <a:r>
              <a:t>• 【零本地算力负担】本地普通工位电脑 0 显存、0 CPU 负担，无需购置昂贵 GPU 服务器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691640"/>
            <a:ext cx="525780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82512" y="1874519"/>
            <a:ext cx="4892040" cy="5943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🛡️ 工业工程规则库 · 质量边界与格式校验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2560320"/>
            <a:ext cx="4892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  <a:latin typeface="微软雅黑"/>
              </a:defRPr>
            </a:pPr>
            <a:r>
              <a:t>• 【风电品牌知识库】内嵌西门子、ABB、SSB、电力电子等主流厂商字典与中文化映射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  <a:latin typeface="微软雅黑"/>
              </a:defRPr>
            </a:pPr>
            <a:r>
              <a:t>• 【噪声前缀过滤】专门剔除“变桨备件_”、“备件_”等分类前缀，避免混入物料名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  <a:latin typeface="微软雅黑"/>
              </a:defRPr>
            </a:pPr>
            <a:r>
              <a:t>• 【纯净图号剥离】工业正则约束引擎，确保规格型号中绝不掺杂品牌文字与多余符号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  <a:latin typeface="微软雅黑"/>
              </a:defRPr>
            </a:pPr>
            <a:r>
              <a:t>• 【毫秒级轻量兜底】遇到网络偶发超时时，自动触发本地轻量规则保底，保障业务连续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440680"/>
            <a:ext cx="10728655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3A8A"/>
                </a:solidFill>
                <a:latin typeface="微软雅黑"/>
              </a:defRPr>
            </a:pPr>
            <a:r>
              <a:t>💡 架构价值总结：以极低成本换取极高业务效能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  <a:latin typeface="微软雅黑"/>
              </a:defRPr>
            </a:pPr>
            <a:r>
              <a:t>轻量纯 Web 架构（Python Flask + SQLite + Waitress 多线程），科室工程师打开浏览器即可使用，无需本地安装维护复杂的深度学习显卡环境，开箱即用，落地极快。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20116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D4ED8"/>
                </a:solidFill>
                <a:latin typeface="微软雅黑"/>
              </a:defRPr>
            </a:pPr>
            <a:r>
              <a:t>04. 核心功能场景 (一)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微软雅黑"/>
              </a:defRPr>
            </a:pPr>
            <a:r>
              <a:t>非标物料智能拆解与实体标准化抽取实机展示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微软雅黑"/>
              </a:defRPr>
            </a:pPr>
            <a:r>
              <a:t>不受词序倒置、非标下划线干扰，精准抽离纯型号，品牌自动中文化规范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微软雅黑"/>
              </a:defRPr>
            </a:pPr>
            <a:r>
              <a:t>案例 1：典型工业下划线拼接（多重前缀噪声）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30552"/>
            <a:ext cx="3931920" cy="777240"/>
          </a:xfrm>
          <a:prstGeom prst="roundRect">
            <a:avLst/>
          </a:prstGeom>
          <a:solidFill>
            <a:srgbClr val="FFF1F2"/>
          </a:solidFill>
          <a:ln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43F5E"/>
                </a:solidFill>
                <a:latin typeface="微软雅黑"/>
              </a:defRPr>
            </a:pPr>
            <a:r>
              <a:t>📥 原始非标描述输入：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变桨备件_传感器撞块_DBJ00.004.1386.01_电力电子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83480" y="2350008"/>
            <a:ext cx="320040" cy="347472"/>
          </a:xfrm>
          <a:prstGeom prst="rightArrow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40680" y="2130552"/>
            <a:ext cx="1874519" cy="77724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047857"/>
                </a:solidFill>
                <a:latin typeface="微软雅黑"/>
              </a:defRPr>
            </a:pPr>
            <a:r>
              <a:t>✨ 物料名称</a:t>
            </a:r>
          </a:p>
          <a:p>
            <a:pPr>
              <a:defRPr sz="1100" b="1">
                <a:solidFill>
                  <a:srgbClr val="0F172A"/>
                </a:solidFill>
                <a:latin typeface="微软雅黑"/>
              </a:defRPr>
            </a:pPr>
            <a:r>
              <a:t>传感器撞块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2130552"/>
            <a:ext cx="1874519" cy="77724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047857"/>
                </a:solidFill>
                <a:latin typeface="微软雅黑"/>
              </a:defRPr>
            </a:pPr>
            <a:r>
              <a:t>✨ 规格型号</a:t>
            </a:r>
          </a:p>
          <a:p>
            <a:pPr>
              <a:defRPr sz="1100" b="1">
                <a:solidFill>
                  <a:srgbClr val="0F172A"/>
                </a:solidFill>
                <a:latin typeface="微软雅黑"/>
              </a:defRPr>
            </a:pPr>
            <a:r>
              <a:t>DBJ00.004.1386.01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2130552"/>
            <a:ext cx="1874519" cy="77724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047857"/>
                </a:solidFill>
                <a:latin typeface="微软雅黑"/>
              </a:defRPr>
            </a:pPr>
            <a:r>
              <a:t>✨ 制造商</a:t>
            </a:r>
          </a:p>
          <a:p>
            <a:pPr>
              <a:defRPr sz="1100" b="1">
                <a:solidFill>
                  <a:srgbClr val="0F172A"/>
                </a:solidFill>
                <a:latin typeface="微软雅黑"/>
              </a:defRPr>
            </a:pPr>
            <a:r>
              <a:t>电力电子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46120"/>
            <a:ext cx="10728655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300984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微软雅黑"/>
              </a:defRPr>
            </a:pPr>
            <a:r>
              <a:t>案例 2：词序完全倒置混排（属性前置干扰）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685032"/>
            <a:ext cx="3931920" cy="777240"/>
          </a:xfrm>
          <a:prstGeom prst="roundRect">
            <a:avLst/>
          </a:prstGeom>
          <a:solidFill>
            <a:srgbClr val="FFF1F2"/>
          </a:solidFill>
          <a:ln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43F5E"/>
                </a:solidFill>
                <a:latin typeface="微软雅黑"/>
              </a:defRPr>
            </a:pPr>
            <a:r>
              <a:t>📥 原始非标描述输入：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支架_66-31-02-Q00448-00_限位开关支架_X3_SSB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983480" y="3904488"/>
            <a:ext cx="320040" cy="347472"/>
          </a:xfrm>
          <a:prstGeom prst="rightArrow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40680" y="3685032"/>
            <a:ext cx="1874519" cy="77724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047857"/>
                </a:solidFill>
                <a:latin typeface="微软雅黑"/>
              </a:defRPr>
            </a:pPr>
            <a:r>
              <a:t>✨ 物料名称</a:t>
            </a:r>
          </a:p>
          <a:p>
            <a:pPr>
              <a:defRPr sz="1100" b="1">
                <a:solidFill>
                  <a:srgbClr val="0F172A"/>
                </a:solidFill>
                <a:latin typeface="微软雅黑"/>
              </a:defRPr>
            </a:pPr>
            <a:r>
              <a:t>限位开关支架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3685032"/>
            <a:ext cx="1874519" cy="77724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047857"/>
                </a:solidFill>
                <a:latin typeface="微软雅黑"/>
              </a:defRPr>
            </a:pPr>
            <a:r>
              <a:t>✨ 规格型号</a:t>
            </a:r>
          </a:p>
          <a:p>
            <a:pPr>
              <a:defRPr sz="1100" b="1">
                <a:solidFill>
                  <a:srgbClr val="0F172A"/>
                </a:solidFill>
                <a:latin typeface="微软雅黑"/>
              </a:defRPr>
            </a:pPr>
            <a:r>
              <a:t>66-31-02-Q00448-00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72600" y="3685032"/>
            <a:ext cx="1874519" cy="77724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047857"/>
                </a:solidFill>
                <a:latin typeface="微软雅黑"/>
              </a:defRPr>
            </a:pPr>
            <a:r>
              <a:t>✨ 制造商</a:t>
            </a:r>
          </a:p>
          <a:p>
            <a:pPr>
              <a:defRPr sz="1100" b="1">
                <a:solidFill>
                  <a:srgbClr val="0F172A"/>
                </a:solidFill>
                <a:latin typeface="微软雅黑"/>
              </a:defRPr>
            </a:pPr>
            <a:r>
              <a:t>SSB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00600"/>
            <a:ext cx="10728655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55464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微软雅黑"/>
              </a:defRPr>
            </a:pPr>
            <a:r>
              <a:t>案例 3：国际外企英文品牌混写（易导致一物多码）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5239512"/>
            <a:ext cx="3931920" cy="777240"/>
          </a:xfrm>
          <a:prstGeom prst="roundRect">
            <a:avLst/>
          </a:prstGeom>
          <a:solidFill>
            <a:srgbClr val="FFF1F2"/>
          </a:solidFill>
          <a:ln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43F5E"/>
                </a:solidFill>
                <a:latin typeface="微软雅黑"/>
              </a:defRPr>
            </a:pPr>
            <a:r>
              <a:t>📥 原始非标描述输入：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维护开关_3LD2704-0TK51_Siemens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983480" y="5458968"/>
            <a:ext cx="320040" cy="347472"/>
          </a:xfrm>
          <a:prstGeom prst="rightArrow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40680" y="5239512"/>
            <a:ext cx="1874519" cy="77724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047857"/>
                </a:solidFill>
                <a:latin typeface="微软雅黑"/>
              </a:defRPr>
            </a:pPr>
            <a:r>
              <a:t>✨ 物料名称</a:t>
            </a:r>
          </a:p>
          <a:p>
            <a:pPr>
              <a:defRPr sz="1100" b="1">
                <a:solidFill>
                  <a:srgbClr val="0F172A"/>
                </a:solidFill>
                <a:latin typeface="微软雅黑"/>
              </a:defRPr>
            </a:pPr>
            <a:r>
              <a:t>维护开关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5239512"/>
            <a:ext cx="1874519" cy="77724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047857"/>
                </a:solidFill>
                <a:latin typeface="微软雅黑"/>
              </a:defRPr>
            </a:pPr>
            <a:r>
              <a:t>✨ 规格型号</a:t>
            </a:r>
          </a:p>
          <a:p>
            <a:pPr>
              <a:defRPr sz="1100" b="1">
                <a:solidFill>
                  <a:srgbClr val="0F172A"/>
                </a:solidFill>
                <a:latin typeface="微软雅黑"/>
              </a:defRPr>
            </a:pPr>
            <a:r>
              <a:t>3LD2704-0TK51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72600" y="5239512"/>
            <a:ext cx="1874519" cy="77724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047857"/>
                </a:solidFill>
                <a:latin typeface="微软雅黑"/>
              </a:defRPr>
            </a:pPr>
            <a:r>
              <a:t>✨ 制造商</a:t>
            </a:r>
          </a:p>
          <a:p>
            <a:pPr>
              <a:defRPr sz="1100" b="1">
                <a:solidFill>
                  <a:srgbClr val="0F172A"/>
                </a:solidFill>
                <a:latin typeface="微软雅黑"/>
              </a:defRPr>
            </a:pPr>
            <a:r>
              <a:t>西门子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20116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D4ED8"/>
                </a:solidFill>
                <a:latin typeface="微软雅黑"/>
              </a:defRPr>
            </a:pPr>
            <a:r>
              <a:t>05. 多模态技术扩展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微软雅黑"/>
              </a:defRPr>
            </a:pPr>
            <a:r>
              <a:t>轻量化 3D CAD 网页直接解析与一键图册生成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微软雅黑"/>
              </a:defRPr>
            </a:pPr>
            <a:r>
              <a:t>无需安装动辄几十 GB 的桌面专业软件，纯浏览器秒级预览 STEP 并截取物料照片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66751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D4ED8"/>
                </a:solidFill>
                <a:latin typeface="微软雅黑"/>
              </a:defRPr>
            </a:pPr>
            <a:r>
              <a:t>🚀 纯浏览器原生渲染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微软雅黑"/>
              </a:defRPr>
            </a:pPr>
            <a:r>
              <a:t>基于 WebAssembly 与 Three.js 引擎，直接在网页内解析 STEP / STP 复杂三维图纸，零客户端安装门槛。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80360"/>
            <a:ext cx="66751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D4ED8"/>
                </a:solidFill>
                <a:latin typeface="微软雅黑"/>
              </a:defRPr>
            </a:pPr>
            <a:r>
              <a:t>📸 一键高清晰度截屏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微软雅黑"/>
              </a:defRPr>
            </a:pPr>
            <a:r>
              <a:t>支持自由旋转、平移、爆炸缩放。找到最佳观察角度后，一键截取标准物料实物快照，自动写入物料库。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66751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D4ED8"/>
                </a:solidFill>
                <a:latin typeface="微软雅黑"/>
              </a:defRPr>
            </a:pPr>
            <a:r>
              <a:t>👁️ 图文互验降差错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微软雅黑"/>
              </a:defRPr>
            </a:pPr>
            <a:r>
              <a:t>现场运维备件清单不再是冷冰冰的数字代码，配合标准实物照片，运维人员一眼即可辨识，错发率降低 90%。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257800"/>
            <a:ext cx="66751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D4ED8"/>
                </a:solidFill>
                <a:latin typeface="微软雅黑"/>
              </a:defRPr>
            </a:pPr>
            <a:r>
              <a:t>📂 随 BOM 打包离线分发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微软雅黑"/>
              </a:defRPr>
            </a:pPr>
            <a:r>
              <a:t>导出的项目工程离线包 (.sbom / .zip) 完整集成实物高清图谱与技术手册 PDF，脱离内网也能全景查阅。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691640"/>
            <a:ext cx="377921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  <a:latin typeface="微软雅黑"/>
              </a:defRPr>
            </a:pPr>
            <a:r>
              <a:t>🎯 实物图册与多模态赋能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微软雅黑"/>
              </a:defRPr>
            </a:pPr>
            <a:r>
              <a:t>实景渲染快照自动关联备件主库：</a:t>
            </a:r>
            <a:br/>
            <a:r>
              <a:t>• 支持任意机型 3D 格式直读</a:t>
            </a:r>
            <a:br/>
            <a:r>
              <a:t>• 自动匹配主库物料号与图册</a:t>
            </a:r>
            <a:br/>
            <a:r>
              <a:t>• 现场运维服务‘所见即所得’</a:t>
            </a:r>
          </a:p>
        </p:txBody>
      </p:sp>
      <p:pic>
        <p:nvPicPr>
          <p:cNvPr id="11" name="Picture 10" descr="DFB000763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3383280"/>
            <a:ext cx="3227832" cy="65103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20116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D4ED8"/>
                </a:solidFill>
                <a:latin typeface="微软雅黑"/>
              </a:defRPr>
            </a:pPr>
            <a:r>
              <a:t>06. 业务全流程闭环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微软雅黑"/>
              </a:defRPr>
            </a:pPr>
            <a:r>
              <a:t>从物料推断到受控 Service BOM 自动生成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微软雅黑"/>
              </a:defRPr>
            </a:pPr>
            <a:r>
              <a:t>严格遵循公司受控规范，兼具灵活编制体验与严密受控的版本控制体系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85232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892808"/>
            <a:ext cx="384048" cy="384048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1856232"/>
            <a:ext cx="4343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微软雅黑"/>
              </a:defRPr>
            </a:pPr>
            <a:r>
              <a:t>受控封面与元数据联动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微软雅黑"/>
              </a:defRPr>
            </a:pPr>
            <a:r>
              <a:t>自动填充受控表单号（FDJL-JS-037）、文件号、机型代号（如 EW6.25-220）、所属平台（如 WL平台）。封面与导出的文件名全流程自动同步，告别手工填写的低级错误。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5285232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1892808"/>
            <a:ext cx="384048" cy="384048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85432" y="1856232"/>
            <a:ext cx="4343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微软雅黑"/>
              </a:defRPr>
            </a:pPr>
            <a:r>
              <a:t>六级清单签字与变更页 (ECN)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微软雅黑"/>
              </a:defRPr>
            </a:pPr>
            <a:r>
              <a:t>严格支持【编制、校对、审核、会签、标审】完整签字责任链；每次机型升级自动生成 ECN 修改通知单记录与更改标记，全流程合规可溯。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5285232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0120" y="4178807"/>
            <a:ext cx="384048" cy="384048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4142231"/>
            <a:ext cx="4343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微软雅黑"/>
              </a:defRPr>
            </a:pPr>
            <a:r>
              <a:t>树状层级序号规则 (Step 10)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微软雅黑"/>
              </a:defRPr>
            </a:pPr>
            <a:r>
              <a:t>支持国际通行标准“10、20、30”步进序号编码，并自动生成 B 列层级点阵缩进（•、••、•••），多层级关系一目了然，Excel 导出完美还原。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977639"/>
            <a:ext cx="5285232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4178807"/>
            <a:ext cx="384048" cy="384048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85432" y="4142231"/>
            <a:ext cx="4343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微软雅黑"/>
              </a:defRPr>
            </a:pPr>
            <a:r>
              <a:t>细粒度工程锁保护机制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微软雅黑"/>
              </a:defRPr>
            </a:pPr>
            <a:r>
              <a:t>独立机型工程锁（锁定只读 / 解锁编辑），多位同事在局域网协同办公互不冲撞覆盖，自带心跳监测与离线自动释放，兼顾安全与效率。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20116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D4ED8"/>
                </a:solidFill>
                <a:latin typeface="微软雅黑"/>
              </a:defRPr>
            </a:pPr>
            <a:r>
              <a:t>07. 实施效果与价值收益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微软雅黑"/>
              </a:defRPr>
            </a:pPr>
            <a:r>
              <a:t>效率与质量的“双重跃升”：量化业务成果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微软雅黑"/>
              </a:defRPr>
            </a:pPr>
            <a:r>
              <a:t>从手工时代的低效内耗，到 AI 时代的敏捷响应与规范资产沉淀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560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2560320" cy="9144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20240"/>
            <a:ext cx="223113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75569"/>
                </a:solidFill>
                <a:latin typeface="微软雅黑"/>
              </a:defRPr>
            </a:pPr>
            <a:r>
              <a:t>⏱️ 单条录入耗时</a:t>
            </a:r>
          </a:p>
          <a:p>
            <a:pPr>
              <a:spcBef>
                <a:spcPts val="1400"/>
              </a:spcBef>
              <a:defRPr sz="2200" b="1">
                <a:solidFill>
                  <a:srgbClr val="1D4ED8"/>
                </a:solidFill>
                <a:latin typeface="Segoe UI"/>
              </a:defRPr>
            </a:pPr>
            <a:r>
              <a:t>120s ➔ &lt;2s</a:t>
            </a:r>
          </a:p>
          <a:p>
            <a:pPr>
              <a:spcBef>
                <a:spcPts val="4500"/>
              </a:spcBef>
              <a:defRPr sz="1050">
                <a:solidFill>
                  <a:srgbClr val="475569"/>
                </a:solidFill>
                <a:latin typeface="微软雅黑"/>
              </a:defRPr>
            </a:pPr>
            <a:r>
              <a:t>云端 AI 一秒自动完成名称、规格型号与厂商的三段式抽取拆解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3108960"/>
            <a:ext cx="2231136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D4ED8"/>
                </a:solidFill>
                <a:latin typeface="微软雅黑"/>
              </a:defRPr>
            </a:pPr>
            <a:r>
              <a:t>▲ 效率提升 85%+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691640"/>
            <a:ext cx="2560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29000" y="1691640"/>
            <a:ext cx="2560320" cy="914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1920240"/>
            <a:ext cx="223113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75569"/>
                </a:solidFill>
                <a:latin typeface="微软雅黑"/>
              </a:defRPr>
            </a:pPr>
            <a:r>
              <a:t>📅 整机编制周期</a:t>
            </a:r>
          </a:p>
          <a:p>
            <a:pPr>
              <a:spcBef>
                <a:spcPts val="1400"/>
              </a:spcBef>
              <a:defRPr sz="2200" b="1">
                <a:solidFill>
                  <a:srgbClr val="10B981"/>
                </a:solidFill>
                <a:latin typeface="Segoe UI"/>
              </a:defRPr>
            </a:pPr>
            <a:r>
              <a:t>3~5天 ➔ 0.5天</a:t>
            </a:r>
          </a:p>
          <a:p>
            <a:pPr>
              <a:spcBef>
                <a:spcPts val="4500"/>
              </a:spcBef>
              <a:defRPr sz="1050">
                <a:solidFill>
                  <a:srgbClr val="475569"/>
                </a:solidFill>
                <a:latin typeface="微软雅黑"/>
              </a:defRPr>
            </a:pPr>
            <a:r>
              <a:t>从传统逐项翻找、录入，变为批量导入与模板一键解析导出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93592" y="3108960"/>
            <a:ext cx="2231136" cy="3200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0B981"/>
                </a:solidFill>
                <a:latin typeface="微软雅黑"/>
              </a:defRPr>
            </a:pPr>
            <a:r>
              <a:t>▲ 周期缩短 70%+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691640"/>
            <a:ext cx="2560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26480" y="1691640"/>
            <a:ext cx="256032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2" y="1920240"/>
            <a:ext cx="223113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75569"/>
                </a:solidFill>
                <a:latin typeface="微软雅黑"/>
              </a:defRPr>
            </a:pPr>
            <a:r>
              <a:t>🎯 字段规范化率</a:t>
            </a:r>
          </a:p>
          <a:p>
            <a:pPr>
              <a:spcBef>
                <a:spcPts val="1400"/>
              </a:spcBef>
              <a:defRPr sz="2200" b="1">
                <a:solidFill>
                  <a:srgbClr val="1E3A8A"/>
                </a:solidFill>
                <a:latin typeface="Segoe UI"/>
              </a:defRPr>
            </a:pPr>
            <a:r>
              <a:t>72% ➔ 98.5%</a:t>
            </a:r>
          </a:p>
          <a:p>
            <a:pPr>
              <a:spcBef>
                <a:spcPts val="4500"/>
              </a:spcBef>
              <a:defRPr sz="1050">
                <a:solidFill>
                  <a:srgbClr val="475569"/>
                </a:solidFill>
                <a:latin typeface="微软雅黑"/>
              </a:defRPr>
            </a:pPr>
            <a:r>
              <a:t>规范过滤前缀干扰，纯净保留图纸代号，消除重码温床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3108960"/>
            <a:ext cx="2231136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E3A8A"/>
                </a:solidFill>
                <a:latin typeface="微软雅黑"/>
              </a:defRPr>
            </a:pPr>
            <a:r>
              <a:t>▲ 规范率提升 26%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1691640"/>
            <a:ext cx="2560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823960" y="1691640"/>
            <a:ext cx="2560320" cy="914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88552" y="1920240"/>
            <a:ext cx="223113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75569"/>
                </a:solidFill>
                <a:latin typeface="微软雅黑"/>
              </a:defRPr>
            </a:pPr>
            <a:r>
              <a:t>⚡ 极速云端响应</a:t>
            </a:r>
          </a:p>
          <a:p>
            <a:pPr>
              <a:spcBef>
                <a:spcPts val="1400"/>
              </a:spcBef>
              <a:defRPr sz="2200" b="1">
                <a:solidFill>
                  <a:srgbClr val="7C3AED"/>
                </a:solidFill>
                <a:latin typeface="Segoe UI"/>
              </a:defRPr>
            </a:pPr>
            <a:r>
              <a:t>&lt; 1.0 秒</a:t>
            </a:r>
          </a:p>
          <a:p>
            <a:pPr>
              <a:spcBef>
                <a:spcPts val="4500"/>
              </a:spcBef>
              <a:defRPr sz="1050">
                <a:solidFill>
                  <a:srgbClr val="475569"/>
                </a:solidFill>
                <a:latin typeface="微软雅黑"/>
              </a:defRPr>
            </a:pPr>
            <a:r>
              <a:t>调用智谱云端大模型，无需购置高配 GPU 服务器，普通工位电脑即开即用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88552" y="3108960"/>
            <a:ext cx="2231136" cy="32004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7C3AED"/>
                </a:solidFill>
                <a:latin typeface="微软雅黑"/>
              </a:defRPr>
            </a:pPr>
            <a:r>
              <a:t>★ 零本地硬件门槛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20116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D4ED8"/>
                </a:solidFill>
                <a:latin typeface="微软雅黑"/>
              </a:defRPr>
            </a:pPr>
            <a:r>
              <a:t>08. 实践心得与思考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微软雅黑"/>
              </a:defRPr>
            </a:pPr>
            <a:r>
              <a:t>大模型在工业工程落地的方法论：“从玩具到生产力”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微软雅黑"/>
              </a:defRPr>
            </a:pPr>
            <a:r>
              <a:t>超越通用对话框概念，真正将大模型自然语言能力融入企业严谨业务流程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920240"/>
            <a:ext cx="914400" cy="91440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1856232"/>
            <a:ext cx="8961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微软雅黑"/>
              </a:defRPr>
            </a:pPr>
            <a:r>
              <a:t>小切口，深扎根 (Focus on Pain Points)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  <a:latin typeface="微软雅黑"/>
              </a:defRPr>
            </a:pPr>
            <a:r>
              <a:t>不追求大而全的宏大叙事，聚焦“物料描述格式非标、人工拆解烦琐”这一核心高频痛点进行单点打穿。切口越小，落地越快，工程师的使用意愿越强。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46120"/>
            <a:ext cx="1072865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5840" y="3474720"/>
            <a:ext cx="914400" cy="9144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3410712"/>
            <a:ext cx="8961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微软雅黑"/>
              </a:defRPr>
            </a:pPr>
            <a:r>
              <a:t>轻量实用，善用成熟云端大模型 (Lean Cloud-First)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  <a:latin typeface="微软雅黑"/>
              </a:defRPr>
            </a:pPr>
            <a:r>
              <a:t>工业软件研发不必盲目自建昂贵的大模型硬件服务器。依托成熟高性价比的云端 API，将精力完全聚焦在业务逻辑与物料治理本身，实现极低成本、快速见效。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00600"/>
            <a:ext cx="1072865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5840" y="5029200"/>
            <a:ext cx="914400" cy="9144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4965192"/>
            <a:ext cx="8961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微软雅黑"/>
              </a:defRPr>
            </a:pPr>
            <a:r>
              <a:t>AI 负责理解，规则负责边界 (AI + Engineering Rules)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  <a:latin typeface="微软雅黑"/>
              </a:defRPr>
            </a:pPr>
            <a:r>
              <a:t>大模型极其擅长处理模糊多变的人类语言输入；但工业工程需要 100% 严谨的格式受控。两者结合，大模型做前端提取，规则系统做后端校验，才是工业生产级系统的正解。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20116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D4ED8"/>
                </a:solidFill>
                <a:latin typeface="微软雅黑"/>
              </a:defRPr>
            </a:pPr>
            <a:r>
              <a:t>09. 后续规划与科室协同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微软雅黑"/>
              </a:defRPr>
            </a:pPr>
            <a:r>
              <a:t>推动 Service BOM 智能化向全机型、全专业纵深演进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微软雅黑"/>
              </a:defRPr>
            </a:pPr>
            <a:r>
              <a:t>从变桨系统单点突破，逐步构建风电机组全生命周期运维备件数字资产图谱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474720" cy="9144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微软雅黑"/>
              </a:defRPr>
            </a:pPr>
            <a:r>
              <a:t>Phase 1: 全专业子系统覆盖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  <a:latin typeface="微软雅黑"/>
              </a:defRPr>
            </a:pPr>
            <a:r>
              <a:t>✔  从现有的变桨系统，扩展推广至偏航系统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  <a:latin typeface="微软雅黑"/>
              </a:defRPr>
            </a:pPr>
            <a:r>
              <a:t>✔  覆盖主传动、发电机、变流器、塔筒及整机电气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  <a:latin typeface="微软雅黑"/>
              </a:defRPr>
            </a:pPr>
            <a:r>
              <a:t>✔  建立风机全机型标准化 BOM 库，统一格式基准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  <a:latin typeface="微软雅黑"/>
              </a:defRPr>
            </a:pPr>
            <a:r>
              <a:t>✔  在科室内部形成常态化协同工作流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9164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474720" cy="914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92024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微软雅黑"/>
              </a:defRPr>
            </a:pPr>
            <a:r>
              <a:t>Phase 2: 打通 PLM / ERP 数据底座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  <a:latin typeface="微软雅黑"/>
              </a:defRPr>
            </a:pPr>
            <a:r>
              <a:t>✔  向上对接研发 PLM 系统，实现 EBOM ➔ SBOM 映射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  <a:latin typeface="微软雅黑"/>
              </a:defRPr>
            </a:pPr>
            <a:r>
              <a:t>✔  向下贯通 ERP / MES，实时穿透物料采购与库存状态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  <a:latin typeface="微软雅黑"/>
              </a:defRPr>
            </a:pPr>
            <a:r>
              <a:t>✔  实现从设计端变更到服务备件清单的自动联动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  <a:latin typeface="微软雅黑"/>
              </a:defRPr>
            </a:pPr>
            <a:r>
              <a:t>✔  彻底消除跨部门物料信息壁垒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69164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55280" y="1691640"/>
            <a:ext cx="3474720" cy="914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92024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微软雅黑"/>
              </a:defRPr>
            </a:pPr>
            <a:r>
              <a:t>Phase 3: 多模态工程图纸逆向识别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  <a:latin typeface="微软雅黑"/>
              </a:defRPr>
            </a:pPr>
            <a:r>
              <a:t>✔  引入多模态大模型与工业 OCR 技术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  <a:latin typeface="微软雅黑"/>
              </a:defRPr>
            </a:pPr>
            <a:r>
              <a:t>✔  支持直接扫描非标图纸与技术协议 PDF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  <a:latin typeface="微软雅黑"/>
              </a:defRPr>
            </a:pPr>
            <a:r>
              <a:t>✔  自动识别图纸表格并秒级逆向生成可编辑 BOM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  <a:latin typeface="微软雅黑"/>
              </a:defRPr>
            </a:pPr>
            <a:r>
              <a:t>✔  真正实现从纸质图纸到数字物料资产的快速转化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914400"/>
            <a:ext cx="10728655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64592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凝心聚力 · 智领风电未来</a:t>
            </a:r>
          </a:p>
          <a:p>
            <a:pPr>
              <a:spcBef>
                <a:spcPts val="1200"/>
              </a:spcBef>
              <a:defRPr sz="2400" b="1">
                <a:solidFill>
                  <a:srgbClr val="38BDF8"/>
                </a:solidFill>
                <a:latin typeface="微软雅黑"/>
              </a:defRPr>
            </a:pPr>
            <a:r>
              <a:t>感谢各位领导与同事的聆听，期待共同探讨！</a:t>
            </a:r>
          </a:p>
          <a:p>
            <a:pPr>
              <a:spcBef>
                <a:spcPts val="1800"/>
              </a:spcBef>
              <a:defRPr sz="1350">
                <a:solidFill>
                  <a:srgbClr val="94A3B8"/>
                </a:solidFill>
                <a:latin typeface="微软雅黑"/>
              </a:defRPr>
            </a:pPr>
            <a:r>
              <a:t>欢迎科室同仁登录体验 Service BOM 智能工作站，多提宝贵需求与反馈，携手推进部门数字化转型！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4297680"/>
            <a:ext cx="6858000" cy="914400"/>
          </a:xfrm>
          <a:prstGeom prst="roundRect">
            <a:avLst/>
          </a:prstGeom>
          <a:solidFill>
            <a:srgbClr val="172554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💬 Q &amp; A 交流环节</a:t>
            </a:r>
          </a:p>
          <a:p>
            <a:pPr>
              <a:spcBef>
                <a:spcPts val="300"/>
              </a:spcBef>
              <a:defRPr sz="1100">
                <a:solidFill>
                  <a:srgbClr val="BAE6FD"/>
                </a:solidFill>
                <a:latin typeface="微软雅黑"/>
              </a:defRPr>
            </a:pPr>
            <a:r>
              <a:t>欢迎就技术细节、现场痛点、子系统扩展场景展开深入探讨与交流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